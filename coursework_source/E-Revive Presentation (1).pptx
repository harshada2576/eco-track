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3" Type="http://schemas.openxmlformats.org/officeDocument/2006/relationships/presProps" Target="presProps.xml"/><Relationship Id="rId21" Type="http://schemas.openxmlformats.org/officeDocument/2006/relationships/customXml" Target="../customXml/item2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16" Type="http://schemas.openxmlformats.org/officeDocument/2006/relationships/slide" Target="slides/slide10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11" Type="http://schemas.openxmlformats.org/officeDocument/2006/relationships/slide" Target="slides/slide5.xml"/><Relationship Id="rId5" Type="http://schemas.openxmlformats.org/officeDocument/2006/relationships/theme" Target="theme/theme1.xml"/><Relationship Id="rId15" Type="http://schemas.openxmlformats.org/officeDocument/2006/relationships/slide" Target="slides/slide9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4" Type="http://schemas.openxmlformats.org/officeDocument/2006/relationships/viewProps" Target="viewProps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customXml" Target="../customXml/item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Relationship Id="rId8" Type="http://schemas.openxmlformats.org/officeDocument/2006/relationships/image" Target="../media/image16.png"/><Relationship Id="rId9" Type="http://schemas.openxmlformats.org/officeDocument/2006/relationships/image" Target="../media/image17.png"/><Relationship Id="rId10" Type="http://schemas.openxmlformats.org/officeDocument/2006/relationships/image" Target="../media/image18.png"/><Relationship Id="rId11" Type="http://schemas.openxmlformats.org/officeDocument/2006/relationships/image" Target="../media/image19.png"/><Relationship Id="rId12" Type="http://schemas.openxmlformats.org/officeDocument/2006/relationships/image" Target="../media/image20.png"/><Relationship Id="rId13" Type="http://schemas.openxmlformats.org/officeDocument/2006/relationships/image" Target="../media/image21.png"/><Relationship Id="rId14" Type="http://schemas.openxmlformats.org/officeDocument/2006/relationships/image" Target="../media/image22.png"/><Relationship Id="rId15" Type="http://schemas.openxmlformats.org/officeDocument/2006/relationships/image" Target="../media/image23.png"/><Relationship Id="rId16" Type="http://schemas.openxmlformats.org/officeDocument/2006/relationships/image" Target="../media/image2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Relationship Id="rId8" Type="http://schemas.openxmlformats.org/officeDocument/2006/relationships/image" Target="../media/image30.png"/><Relationship Id="rId9" Type="http://schemas.openxmlformats.org/officeDocument/2006/relationships/image" Target="../media/image31.png"/><Relationship Id="rId10" Type="http://schemas.openxmlformats.org/officeDocument/2006/relationships/image" Target="../media/image32.png"/><Relationship Id="rId11" Type="http://schemas.openxmlformats.org/officeDocument/2006/relationships/image" Target="../media/image33.png"/><Relationship Id="rId12" Type="http://schemas.openxmlformats.org/officeDocument/2006/relationships/image" Target="../media/image34.png"/><Relationship Id="rId13" Type="http://schemas.openxmlformats.org/officeDocument/2006/relationships/image" Target="../media/image35.png"/><Relationship Id="rId14" Type="http://schemas.openxmlformats.org/officeDocument/2006/relationships/image" Target="../media/image3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4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2.png"/><Relationship Id="rId4" Type="http://schemas.openxmlformats.org/officeDocument/2006/relationships/image" Target="../media/image43.png"/><Relationship Id="rId5" Type="http://schemas.openxmlformats.org/officeDocument/2006/relationships/image" Target="../media/image6.png"/><Relationship Id="rId6" Type="http://schemas.openxmlformats.org/officeDocument/2006/relationships/image" Target="../media/image4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16.png"/><Relationship Id="rId7" Type="http://schemas.openxmlformats.org/officeDocument/2006/relationships/image" Target="../media/image18.png"/><Relationship Id="rId8" Type="http://schemas.openxmlformats.org/officeDocument/2006/relationships/image" Target="../media/image20.png"/><Relationship Id="rId9" Type="http://schemas.openxmlformats.org/officeDocument/2006/relationships/image" Target="../media/image48.png"/><Relationship Id="rId10" Type="http://schemas.openxmlformats.org/officeDocument/2006/relationships/image" Target="../media/image49.png"/><Relationship Id="rId11" Type="http://schemas.openxmlformats.org/officeDocument/2006/relationships/image" Target="../media/image50.png"/><Relationship Id="rId12" Type="http://schemas.openxmlformats.org/officeDocument/2006/relationships/image" Target="../media/image5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5.png"/><Relationship Id="rId4" Type="http://schemas.openxmlformats.org/officeDocument/2006/relationships/image" Target="../media/image6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Relationship Id="rId5" Type="http://schemas.openxmlformats.org/officeDocument/2006/relationships/image" Target="../media/image62.png"/><Relationship Id="rId6" Type="http://schemas.openxmlformats.org/officeDocument/2006/relationships/image" Target="../media/image63.png"/><Relationship Id="rId7" Type="http://schemas.openxmlformats.org/officeDocument/2006/relationships/image" Target="../media/image6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Relationship Id="rId5" Type="http://schemas.openxmlformats.org/officeDocument/2006/relationships/image" Target="../media/image67.png"/><Relationship Id="rId6" Type="http://schemas.openxmlformats.org/officeDocument/2006/relationships/image" Target="../media/image6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29175" y="2157412"/>
            <a:ext cx="253365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345531" y="2738437"/>
            <a:ext cx="7500937" cy="6704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280"/>
              </a:lnSpc>
            </a:pPr>
            <a:r>
              <a:rPr b="1" sz="4800" i="0" u="none">
                <a:solidFill>
                  <a:srgbClr val="0F172A"/>
                </a:solidFill>
                <a:latin typeface="Plus Jakarta Sans"/>
              </a:rPr>
              <a:t>E-Revive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24125" y="3504158"/>
            <a:ext cx="7143750" cy="3961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10B981"/>
                </a:solidFill>
                <a:latin typeface="Inter SemiBold"/>
              </a:rPr>
              <a:t>Smart E-Waste Second-Life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24125" y="4090838"/>
            <a:ext cx="71437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64748B"/>
                </a:solidFill>
                <a:latin typeface="Inter"/>
              </a:rPr>
              <a:t>Transforming discarded electronics into second-life assets through automated valuation, refurbishment, parts recovery, and certified recycling.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0150" y="2262187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125" y="1997571"/>
            <a:ext cx="1809750" cy="3524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880598" y="2578596"/>
            <a:ext cx="6430803" cy="6286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3900" i="0" u="none">
                <a:solidFill>
                  <a:srgbClr val="0F172A"/>
                </a:solidFill>
                <a:latin typeface="Plus Jakarta Sans"/>
              </a:rPr>
              <a:t>1. The Problem Statement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715000" y="3588246"/>
            <a:ext cx="762000" cy="381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24125" y="3854946"/>
            <a:ext cx="7143750" cy="10054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640"/>
              </a:lnSpc>
            </a:pPr>
            <a:r>
              <a:rPr b="0" sz="1650" i="0" u="none">
                <a:solidFill>
                  <a:srgbClr val="64748B"/>
                </a:solidFill>
                <a:latin typeface="Inter"/>
              </a:rPr>
              <a:t>A massive volume of functional or repairable electronic devices is dumped prematurely due to a lack of structured assessment and convenient disposal avenues.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00" y="2102346"/>
            <a:ext cx="142875" cy="1428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76300" y="2316063"/>
            <a:ext cx="5029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Premature Disposal: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Millions of smartphones, laptops, and chargers are thrown away even when minor repairs can restore full utility.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6300" y="3245346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Lack of Consumer Awareness: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Device owners don't know where to dispose of e-waste safely or how to estimate residual worth.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915667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Lost Resource Value: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Precious metals and reusable modules (RAM, displays, batteries) are permanently lost in landfills.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4585989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Informal Hazard: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Unregulated disposal leads to severe toxic soil and water contamination.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49400"/>
            <a:ext cx="171450" cy="1809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278683"/>
            <a:ext cx="171450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3949005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619327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Discarded Value &amp; Environmental Risk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233713"/>
            <a:ext cx="5286375" cy="1143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476250"/>
            <a:ext cx="5550693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2. Proposed Idea: E-Revive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125" y="0"/>
            <a:ext cx="5857875" cy="68580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1500" y="2195512"/>
            <a:ext cx="555069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Smart Digital &amp; Logistics Ecosystem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1500" y="2557462"/>
            <a:ext cx="5286375" cy="5485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E-Revive is an intelligent digital platform that connects device owners with a circular second-life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" y="3258442"/>
            <a:ext cx="5286375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Inter"/>
              </a:rPr>
              <a:t>Instead of routing all collected electronics straight to destruction, E-Revive assesses each device's condition to unlock its highest economic and functional value.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2000" y="4395638"/>
            <a:ext cx="1085850" cy="1809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125" i="0" u="none">
                <a:solidFill>
                  <a:srgbClr val="065F46"/>
                </a:solidFill>
                <a:latin typeface="Inter"/>
              </a:rPr>
              <a:t>Core Objective: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4614713"/>
            <a:ext cx="4943475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125" i="0" u="none">
                <a:solidFill>
                  <a:srgbClr val="047857"/>
                </a:solidFill>
                <a:latin typeface="Inter"/>
              </a:rPr>
              <a:t>Old Device → Smart Assessment → Repair/Reuse → Parts Harvest → Certified Recycling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48197"/>
            <a:ext cx="2619375" cy="30759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248197"/>
            <a:ext cx="2619375" cy="30759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248197"/>
            <a:ext cx="2619375" cy="30759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248197"/>
            <a:ext cx="2619375" cy="30759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514897"/>
            <a:ext cx="514350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81597"/>
            <a:ext cx="495300" cy="4953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09625" y="3429297"/>
            <a:ext cx="1620202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🟢 Direct Reuse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9625" y="3791247"/>
            <a:ext cx="2143125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Device is in functional condition. Cleaned, data-wiped, and directed to secondary resale or donation channels.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9500" y="2514897"/>
            <a:ext cx="533400" cy="1905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9500" y="2781597"/>
            <a:ext cx="495300" cy="4953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619500" y="3429297"/>
            <a:ext cx="131016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🔵 Refurbish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9500" y="3791247"/>
            <a:ext cx="2143125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Minor mechanical or battery repairs restore full utility, unlocking maximum resale margin for affordable tech buyers.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29375" y="2514897"/>
            <a:ext cx="5334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29375" y="2781597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29375" y="3429297"/>
            <a:ext cx="1710213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🟡 Parts Harvest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9375" y="3791247"/>
            <a:ext cx="2143125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Non-repairable units are disassembled for usable displays, RAM modules, ICs, and copper wiring for repair markets.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239250" y="2514897"/>
            <a:ext cx="542925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39250" y="2781597"/>
            <a:ext cx="495300" cy="4953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239250" y="3429297"/>
            <a:ext cx="177022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🔴 Eco Recycling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0" y="3791247"/>
            <a:ext cx="2143125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Remaining hazardous materials &amp; residue are safely handed over to CPCB-authorized metal extraction recyclers.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52500" y="2924472"/>
            <a:ext cx="209550" cy="2095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762375" y="2924472"/>
            <a:ext cx="209550" cy="209550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72250" y="2924472"/>
            <a:ext cx="209550" cy="20955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53550" y="2924472"/>
            <a:ext cx="266700" cy="20955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4-Tier Device Classification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673971"/>
            <a:ext cx="2430660" cy="14626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4180" y="3673971"/>
            <a:ext cx="2430660" cy="14626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6860" y="3673971"/>
            <a:ext cx="2430660" cy="14626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89541" y="3673971"/>
            <a:ext cx="2430660" cy="146268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1123950" y="3957637"/>
            <a:ext cx="9944100" cy="381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53455" y="2816721"/>
            <a:ext cx="666750" cy="666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6135" y="2816721"/>
            <a:ext cx="666750" cy="666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98816" y="2816721"/>
            <a:ext cx="666750" cy="666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71496" y="2816721"/>
            <a:ext cx="666750" cy="666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701105" y="3035796"/>
            <a:ext cx="171450" cy="2286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0754" y="3835896"/>
            <a:ext cx="22121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1. Register Device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3425" y="4197846"/>
            <a:ext cx="210681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User inputs specs, age, and condition via web or mobile app.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3785" y="3035796"/>
            <a:ext cx="171450" cy="2286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553435" y="3835896"/>
            <a:ext cx="22121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2. Smart Valuation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06105" y="4197846"/>
            <a:ext cx="210681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Algorithmic valuation generates immediate buyback offer.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89316" y="3035796"/>
            <a:ext cx="285750" cy="2286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426115" y="3835896"/>
            <a:ext cx="22121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3. Pickup &amp; Triage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8785" y="4197846"/>
            <a:ext cx="210681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Doorstep collection followed by diagnostic testing.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76284" y="3035796"/>
            <a:ext cx="257175" cy="22860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98796" y="3835896"/>
            <a:ext cx="221215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4. Optimal Route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1466" y="4197846"/>
            <a:ext cx="210681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Device enters Reuse, Refurbishment, Harvesting, or Recycling.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3. How the Solution Works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266354"/>
            <a:ext cx="5334000" cy="303966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2266354"/>
            <a:ext cx="5334000" cy="303966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6775" y="2590204"/>
            <a:ext cx="333375" cy="266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95400" y="2590204"/>
            <a:ext cx="205025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Primary Consumers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71575" y="2999779"/>
            <a:ext cx="44386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College Students: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Seek affordable refurbished laptops and easy sell options.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71575" y="3670101"/>
            <a:ext cx="44386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Households: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Convenient doorstep disposal for old phones, chargers, and gadgets.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1575" y="4340423"/>
            <a:ext cx="44386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Individual Professionals: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Instant valuation and buyback rewards for upgrades.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1775" y="2590204"/>
            <a:ext cx="200025" cy="2667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77050" y="2590204"/>
            <a:ext cx="193024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B2B &amp; Institutional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86575" y="2999779"/>
            <a:ext cx="44386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IT Companies &amp; Offices: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Bulk e-waste retirement with compliance certificates.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86575" y="3670101"/>
            <a:ext cx="44386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Schools &amp; Universities: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Subscription-based bulk pickup &amp; recycling drives.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86575" y="4340423"/>
            <a:ext cx="443865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Authorized Recyclers: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Verified, steady supply of sorted e-waste residue.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033117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3703439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775" y="4373760"/>
            <a:ext cx="152400" cy="18097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033117"/>
            <a:ext cx="152400" cy="18097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3703439"/>
            <a:ext cx="152400" cy="18097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1775" y="4373760"/>
            <a:ext cx="152400" cy="18097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4. Target Audience &amp; Customers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74726"/>
            <a:ext cx="5334000" cy="11162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881437"/>
            <a:ext cx="5334000" cy="111621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00100" y="2765226"/>
            <a:ext cx="516064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475569"/>
                </a:solidFill>
                <a:latin typeface="Plus Jakarta Sans"/>
              </a:rPr>
              <a:t>TRADITIONAL E-WASTE 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3012876"/>
            <a:ext cx="49149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F172A"/>
                </a:solidFill>
                <a:latin typeface="Inter SemiBold"/>
              </a:rPr>
              <a:t>Collection Drive ➔ Direct Shredding &amp; Recycling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100" y="3287166"/>
            <a:ext cx="491490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64748B"/>
                </a:solidFill>
                <a:latin typeface="Inter"/>
              </a:rPr>
              <a:t>(Recycling is the 1st option — destroys working components)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" y="4071937"/>
            <a:ext cx="516064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047857"/>
                </a:solidFill>
                <a:latin typeface="Plus Jakarta Sans"/>
              </a:rPr>
              <a:t>E-REVIVE CIRCULAR PARADIGM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" y="4319587"/>
            <a:ext cx="491490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065F46"/>
                </a:solidFill>
                <a:latin typeface="Inter SemiBold"/>
              </a:rPr>
              <a:t>Assess ➔ Reuse ➔ Refurbish ➔ Parts Harvest ➔ Recycle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" y="4593877"/>
            <a:ext cx="4914900" cy="2132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b="0" sz="1050" i="0" u="none">
                <a:solidFill>
                  <a:srgbClr val="047857"/>
                </a:solidFill>
                <a:latin typeface="Inter"/>
              </a:rPr>
              <a:t>(Recycling is the FINAL option — maximizes economic &amp; component life)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6025" y="1985962"/>
            <a:ext cx="2705100" cy="1905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5. What Makes E-Revive Novel?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81547"/>
            <a:ext cx="2619375" cy="280927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1375" y="2381547"/>
            <a:ext cx="2619375" cy="280927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1250" y="2381547"/>
            <a:ext cx="2619375" cy="2809279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1125" y="2381547"/>
            <a:ext cx="2619375" cy="2809279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625" y="2648247"/>
            <a:ext cx="495300" cy="4953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9625" y="3295947"/>
            <a:ext cx="2090261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1. Refurbished Sales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9625" y="3657897"/>
            <a:ext cx="2143125" cy="1294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Buy used laptops (~₹3,000), repair (~₹1,000), sell (~₹5,000). High gross margins per restored device.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19500" y="2648247"/>
            <a:ext cx="495300" cy="4953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3619500" y="3295947"/>
            <a:ext cx="2160270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2. Parts Marketplace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9500" y="3657897"/>
            <a:ext cx="214312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Selling extracted functional RAM, displays, adapters, and circuit boards to repair shops.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29375" y="2648247"/>
            <a:ext cx="495300" cy="4953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29375" y="3295947"/>
            <a:ext cx="1590198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3. Recycler Fee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9375" y="3657897"/>
            <a:ext cx="214312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Earning collection and sorting commissions from CPCB-certified scrap processors.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9250" y="2648247"/>
            <a:ext cx="495300" cy="4953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239250" y="3295947"/>
            <a:ext cx="1810226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650" i="0" u="none">
                <a:solidFill>
                  <a:srgbClr val="0F172A"/>
                </a:solidFill>
                <a:latin typeface="Plus Jakarta Sans SemiBold"/>
              </a:rPr>
              <a:t>4. Enterprise B2B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9250" y="3657897"/>
            <a:ext cx="2143125" cy="10358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0" sz="1275" i="0" u="none">
                <a:solidFill>
                  <a:srgbClr val="475569"/>
                </a:solidFill>
                <a:latin typeface="Inter"/>
              </a:rPr>
              <a:t>Monthly compliance subscriptions for corporate e-waste auditing &amp; disposal reports.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3925" y="2791122"/>
            <a:ext cx="266700" cy="2095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762375" y="2791122"/>
            <a:ext cx="209550" cy="2095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43675" y="2791122"/>
            <a:ext cx="266700" cy="2095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05937" y="2791122"/>
            <a:ext cx="161925" cy="2095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6. Diversified Monetization Streams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547294"/>
            <a:ext cx="11049000" cy="77331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1190625"/>
            <a:ext cx="11049000" cy="51911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" y="4690169"/>
            <a:ext cx="10629900" cy="487560"/>
          </a:xfrm>
          <a:prstGeom prst="rect">
            <a:avLst/>
          </a:prstGeom>
          <a:noFill/>
        </p:spPr>
        <p:txBody>
          <a:bodyPr wrap="square" lIns="15240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1" sz="1200" i="0" u="none">
                <a:solidFill>
                  <a:srgbClr val="065F46"/>
                </a:solidFill>
                <a:latin typeface="Inter"/>
              </a:rPr>
              <a:t>Estimated Gross Revenue:</a:t>
            </a:r>
            <a:r>
              <a:rPr b="0" sz="1200" i="0" u="none">
                <a:solidFill>
                  <a:srgbClr val="065F46"/>
                </a:solidFill>
                <a:latin typeface="Inter Medium"/>
              </a:rPr>
              <a:t> ~₹1,20,000/month. Estimated initial net profitability ranges between </a:t>
            </a:r>
            <a:r>
              <a:rPr b="1" sz="1200" i="0" u="none">
                <a:solidFill>
                  <a:srgbClr val="065F46"/>
                </a:solidFill>
                <a:latin typeface="Inter"/>
              </a:rPr>
              <a:t>₹30,000 – ₹50,000/month</a:t>
            </a:r>
            <a:r>
              <a:rPr b="0" sz="1200" i="0" u="none">
                <a:solidFill>
                  <a:srgbClr val="065F46"/>
                </a:solidFill>
                <a:latin typeface="Inter Medium"/>
              </a:rPr>
              <a:t> after logistics, testing, and operational expenses.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4728269"/>
            <a:ext cx="152400" cy="152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7. Financial Projections (~300 Units/Mo)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640163"/>
            <a:ext cx="5334000" cy="561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1976437"/>
            <a:ext cx="5334000" cy="3619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70236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Frontend: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Responsive UI built with React.js, HTML5, and Tailwind CSS.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6300" y="3040558"/>
            <a:ext cx="5029200" cy="517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Backend &amp; DB: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Node.js / Express microservices backed by MongoDB.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6300" y="3710880"/>
            <a:ext cx="5029200" cy="7768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9"/>
              </a:lnSpc>
            </a:pPr>
            <a:r>
              <a:rPr b="1" sz="1275" i="0" u="none">
                <a:solidFill>
                  <a:srgbClr val="475569"/>
                </a:solidFill>
                <a:latin typeface="Inter"/>
              </a:rPr>
              <a:t>AI/ML Valuation Engine:</a:t>
            </a:r>
            <a:r>
              <a:rPr b="0" sz="1275" i="0" u="none">
                <a:solidFill>
                  <a:srgbClr val="475569"/>
                </a:solidFill>
                <a:latin typeface="Inter"/>
              </a:rPr>
              <a:t> Predicts repairability probability and estimates market resale price based on specs, battery wear, and 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4039" y="4925913"/>
            <a:ext cx="2964656" cy="1428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334155"/>
                </a:solidFill>
                <a:latin typeface="monospace"/>
              </a:rPr>
              <a:t>ML Yield Prediction: ₹4,500 Resale Value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6025" y="1985962"/>
            <a:ext cx="5314950" cy="3600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2403574"/>
            <a:ext cx="219075" cy="1809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" y="3073896"/>
            <a:ext cx="171450" cy="1809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1500" y="3744217"/>
            <a:ext cx="171450" cy="1809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8. Technology Stack &amp; AI Integration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72037" y="1495425"/>
            <a:ext cx="2447925" cy="352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47875" y="3067050"/>
            <a:ext cx="8096250" cy="121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5275" y="2076450"/>
            <a:ext cx="11601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1" sz="4800" i="0" u="none">
                <a:solidFill>
                  <a:srgbClr val="0F172A"/>
                </a:solidFill>
                <a:latin typeface="Plus Jakarta Sans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1500" y="4514850"/>
            <a:ext cx="110490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400"/>
              </a:lnSpc>
            </a:pPr>
            <a:r>
              <a:rPr b="0" sz="1500" i="0" u="none">
                <a:solidFill>
                  <a:srgbClr val="0F172A"/>
                </a:solidFill>
                <a:latin typeface="Inter SemiBold"/>
              </a:rPr>
              <a:t>Questions &amp; Discussion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81325" y="5162550"/>
            <a:ext cx="8639175" cy="2000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64748B"/>
                </a:solidFill>
                <a:latin typeface="Inter"/>
              </a:rPr>
              <a:t> www.e-revive.platform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</a:t>
            </a:r>
            <a:r>
              <a:rPr b="0" sz="1350" i="0" u="none">
                <a:solidFill>
                  <a:srgbClr val="64748B"/>
                </a:solidFill>
                <a:latin typeface="Inter"/>
              </a:rPr>
              <a:t> contact@e-revive.org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3012" y="1600200"/>
            <a:ext cx="142875" cy="1428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6675" y="5176837"/>
            <a:ext cx="171450" cy="1714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6500" y="5176837"/>
            <a:ext cx="171450" cy="1714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557337" y="2221408"/>
            <a:ext cx="90773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557337" y="3006179"/>
            <a:ext cx="90773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57337" y="3790950"/>
            <a:ext cx="9077325" cy="78477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557337" y="2996654"/>
            <a:ext cx="9077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557337" y="2996654"/>
            <a:ext cx="9077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57337" y="3781425"/>
            <a:ext cx="9077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557337" y="3781425"/>
            <a:ext cx="9077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557337" y="4566195"/>
            <a:ext cx="9077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7337" y="4566195"/>
            <a:ext cx="9077325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7337" y="2370832"/>
            <a:ext cx="857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652712" y="2364283"/>
            <a:ext cx="79819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https://media.baumpub.com/files/slides/locale_image/full/0215/53637_en_a595e_56094_computer-parts-waste-scrape-stock-image.jpg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2712" y="2609998"/>
            <a:ext cx="7981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www.recyclingproductnews.com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57337" y="3155602"/>
            <a:ext cx="857250" cy="47625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52712" y="3149054"/>
            <a:ext cx="79819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https://i.ebayimg.com/thumbs/images/g/S~4AAeSw9Hxqcmni/s-l640.png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2712" y="3394769"/>
            <a:ext cx="7981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www.ebay.com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7337" y="3940373"/>
            <a:ext cx="857250" cy="4762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652712" y="3933825"/>
            <a:ext cx="79819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https://greentekreman.com/wp-content/uploads/2021/07/Sustainable-development.png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52712" y="4179540"/>
            <a:ext cx="7981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greentekreman.com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7337" y="4725144"/>
            <a:ext cx="857250" cy="47625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652712" y="4718595"/>
            <a:ext cx="7981950" cy="1980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60"/>
              </a:lnSpc>
            </a:pPr>
            <a:r>
              <a:rPr b="0" sz="975" i="0" u="none">
                <a:solidFill>
                  <a:srgbClr val="475569"/>
                </a:solidFill>
                <a:latin typeface="Inter"/>
              </a:rPr>
              <a:t>https://developer.imagimob.com/Images/evaluation-kit/pic-1.png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2712" y="4964310"/>
            <a:ext cx="7981950" cy="2437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developer.imagimob.com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" y="476250"/>
            <a:ext cx="11601450" cy="4286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Plus Jakarta Sans"/>
              </a:rPr>
              <a:t>Image Sources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1500" y="904875"/>
            <a:ext cx="57150" cy="304800"/>
          </a:xfrm>
          <a:prstGeom prst="roundRect">
            <a:avLst>
              <a:gd name="adj" fmla="val 50000"/>
            </a:avLst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9E45BCADE012848BADD84F0F5519C36" ma:contentTypeVersion="13" ma:contentTypeDescription="Create a new document." ma:contentTypeScope="" ma:versionID="749d6923f222eb45ac0dc6063575a178">
  <xsd:schema xmlns:xsd="http://www.w3.org/2001/XMLSchema" xmlns:xs="http://www.w3.org/2001/XMLSchema" xmlns:p="http://schemas.microsoft.com/office/2006/metadata/properties" xmlns:ns2="c49d017b-ac22-4c0b-a7a4-c8b9eca6cd70" xmlns:ns3="e0d206d7-ee7c-42da-b133-6e7342787b39" targetNamespace="http://schemas.microsoft.com/office/2006/metadata/properties" ma:root="true" ma:fieldsID="e99e7a50f06ef0e0bf1d9a36c1212498" ns2:_="" ns3:_="">
    <xsd:import namespace="c49d017b-ac22-4c0b-a7a4-c8b9eca6cd70"/>
    <xsd:import namespace="e0d206d7-ee7c-42da-b133-6e7342787b39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2:MediaServiceOCR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49d017b-ac22-4c0b-a7a4-c8b9eca6cd70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4" nillable="true" ma:taxonomy="true" ma:internalName="lcf76f155ced4ddcb4097134ff3c332f" ma:taxonomyFieldName="MediaServiceImageTags" ma:displayName="Image Tags" ma:readOnly="false" ma:fieldId="{5cf76f15-5ced-4ddc-b409-7134ff3c332f}" ma:taxonomyMulti="true" ma:sspId="65c09e8c-4242-4efc-8aa0-958213fa9c5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8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d206d7-ee7c-42da-b133-6e7342787b39" elementFormDefault="qualified">
    <xsd:import namespace="http://schemas.microsoft.com/office/2006/documentManagement/types"/>
    <xsd:import namespace="http://schemas.microsoft.com/office/infopath/2007/PartnerControls"/>
    <xsd:element name="TaxCatchAll" ma:index="15" nillable="true" ma:displayName="Taxonomy Catch All Column" ma:hidden="true" ma:list="{35d6c0a8-0dd6-40f9-b8c8-aca075772b73}" ma:internalName="TaxCatchAll" ma:showField="CatchAllData" ma:web="e0d206d7-ee7c-42da-b133-6e7342787b3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c49d017b-ac22-4c0b-a7a4-c8b9eca6cd70">
      <Terms xmlns="http://schemas.microsoft.com/office/infopath/2007/PartnerControls"/>
    </lcf76f155ced4ddcb4097134ff3c332f>
    <TaxCatchAll xmlns="e0d206d7-ee7c-42da-b133-6e7342787b39" xsi:nil="true"/>
    <ReferenceId xmlns="c49d017b-ac22-4c0b-a7a4-c8b9eca6cd70" xsi:nil="true"/>
  </documentManagement>
</p:properties>
</file>

<file path=customXml/itemProps1.xml><?xml version="1.0" encoding="utf-8"?>
<ds:datastoreItem xmlns:ds="http://schemas.openxmlformats.org/officeDocument/2006/customXml" ds:itemID="{508B5402-FE2B-4790-8F78-5A9275881687}"/>
</file>

<file path=customXml/itemProps2.xml><?xml version="1.0" encoding="utf-8"?>
<ds:datastoreItem xmlns:ds="http://schemas.openxmlformats.org/officeDocument/2006/customXml" ds:itemID="{28AF7A86-3CDD-4E2F-BD25-F8A2F30D3BB3}"/>
</file>

<file path=customXml/itemProps3.xml><?xml version="1.0" encoding="utf-8"?>
<ds:datastoreItem xmlns:ds="http://schemas.openxmlformats.org/officeDocument/2006/customXml" ds:itemID="{032BB73D-E184-43C3-946A-17684E485117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0x01010029E45BCADE012848BADD84F0F5519C36</vt:lpwstr>
  </property>
</Properties>
</file>