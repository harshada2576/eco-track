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customXml" Target="../customXml/item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7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t>E-WASTE MANAGEMENT IN RAJASTHAN</a:t>
            </a:r>
          </a:p>
          <a:p>
            <a:pPr>
              <a:spcBef>
                <a:spcPts val="1500"/>
              </a:spcBef>
              <a:defRPr sz="2000">
                <a:solidFill>
                  <a:srgbClr val="DCEBF5"/>
                </a:solidFill>
              </a:defRPr>
            </a:pPr>
            <a:r>
              <a:t>Generation • Collection • EPR • Recycling • Informal Sector •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5212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Academic presentation based on the Rajasthan project dataset and RSPCB public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Rajasthan E-Waste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7.54 Mt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Estimated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2926.0 kt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Collected in project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20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Districts 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7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91.7%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EPR target achievement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Jaipur is the highest-generation district in the project dataset.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Major urban and industrial centres dominate generation.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Rajasthan has an established formal ecosystem of authorized recyclers, refurbishers and EPR-authorized producers.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publishes authorized-facility and collection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District-wise E-Waste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Estimated project values</a:t>
            </a:r>
          </a:p>
        </p:txBody>
      </p:sp>
      <p:pic>
        <p:nvPicPr>
          <p:cNvPr id="5" name="Picture 4" descr="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7589520" cy="426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Jaipur – 999.5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Jodhpur – 566.0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Alwar – 546.5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Udaipur – 460.0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Bharatpur, Sikar, Ajmer and Bhilwara are also significant contributors.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Collection and EPR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Project collection-log dataset</a:t>
            </a:r>
          </a:p>
        </p:txBody>
      </p:sp>
      <p:pic>
        <p:nvPicPr>
          <p:cNvPr id="5" name="Picture 4" descr="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68096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3258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Collection recorded: 2926.0 kt across the 20-district dataset.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Overall EPR target achievement: 91.7%.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Collection capacity varies by district.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The figures are academic estimates and should not be presented as official RSPCB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E-Waste Composition in the Project Dataset</a:t>
            </a:r>
          </a:p>
        </p:txBody>
      </p:sp>
      <p:pic>
        <p:nvPicPr>
          <p:cNvPr id="4" name="Picture 3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5394960" cy="4315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3258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IT &amp; Telecom is the largest category in the project model.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Consumer electronics is the second-largest category.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Lighting, batteries and other items form smaller shares.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Composition values are project assumptions, not laboratory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Authorized E-Waste Companies / Facilities in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Selected current RSPCB-listed facilities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ETCO E-Waste Recycler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4,490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Adatte E-Waste Management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Alwar/Tijara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Dismantling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1,780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GS 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Sikar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Dismantling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600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Shukla E-waste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Bhiwadi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680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SAS Tech E-waste Recycling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Churu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1,050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Telsys Green Web Recycling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Jaipur/Chomu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13,200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Universal E-Waste Recycling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Khairthal-Tijara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6,920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WORTECH Engineers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19,800 TPA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EPR-Authorized Producers in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Current RSPCB public list – 13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ETCO E-Waste Recycler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Integratedmobi Tech Pvt. Ltd. – Chittorgarh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Allied Electronics &amp; Magnetics Ltd. – Udaipur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ITG Software Engineering India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Lipi Data Systems Ltd. – Udaipur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Greenlet Recyclers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Pragya Global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Kumbhat International – Jodhpur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Toshita International LLP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Greenscape Eco Management Pvt. Ltd. – Alwar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Texmaco Rail &amp; Engineering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R. K. Impex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Jiya Impex –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Policy &amp; Institutional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E-Waste (Management) Rules, 2022 – national EPR framework.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CPCB – national registration, EPR and compliance framework.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– state authorization, monitoring and public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provides lists of authorized recyclers/dismantlers/refurbishers, EPR-authorized producers and collection facilities.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Rajasthan has also conducted dedicated e-waste collection-drive initiatives.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Informal Sector, Environment &amp;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Informal collectors remain important for reaching dispersed e-waste streams.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Formal integration should provide registration, training, PPE and links to authorized recyclers.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Project monitoring includes soil, water and air observations at selected hotspots.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Selected project entries flag elevated heavy metals/dust, indicating the need for periodic monitoring.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Safe dismantling and controlled recycling reduce exposure to hazardous substances.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Uneven collection infrastructure across districts.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High dependence on informal collection/dismantling.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Limited public awareness of authorized disposal routes.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Need for stronger EPR tracking and enforcement.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Recycling capacity is concentrated around industrial clusters.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Need for continuous environmental and occupational-health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Recommendations for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Expand district-level collection points and mobile collection drives.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Integrate informal collectors through registration, training and safety equipment.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Strengthen digital EPR tracking and target verification.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Promote repair, refurbishment and reuse before recycling.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Use GIS/AI for generation forecasting and collection-gap mapping.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Increase awareness in schools, colleges, offices and households.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Encourage investment in safe material recovery and modern recycling facilities.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Rajasthan faces a growing e-waste challenge alongside urbanization and digitalization.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project dataset identifies Jaipur, Jodhpur, Alwar and other urban/industrial districts as major generation centres.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state already has a formal ecosystem of authorized recyclers, refurbishers and EPR-authorized producers.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next priority is to connect generation, collection, EPR and recycling through a transparent, safe and circular system.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Better collection, formal-sector integration and public awareness can improve resource recovery and reduce environmental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12. Sources &amp; Data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Rajasthan State Pollution Control Board (RSPCB) – E-Waste Management portal.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List of Dismantlers / Re-furbishers / Recyclers Authorized by RSPCB (updated 24 July 2026).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List of Producers granted EPR Authorization in Rajasthan (updated 24 July 2026).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E-Waste Collection Drive 2025 resources.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Rajasthan project E-Waste Management Tracker – district generation and collection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E78"/>
                </a:solidFill>
              </a:defRPr>
            </a:pPr>
            <a:r>
              <a:t>Data note: district generation/collection values are project estimates; use verified CPCB/RSPCB figures for official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031C0497-D77D-4886-A4F2-BEA5BB782F40}"/>
</file>

<file path=customXml/itemProps2.xml><?xml version="1.0" encoding="utf-8"?>
<ds:datastoreItem xmlns:ds="http://schemas.openxmlformats.org/officeDocument/2006/customXml" ds:itemID="{E44B6DA7-D237-4402-9128-093746815E93}"/>
</file>

<file path=customXml/itemProps3.xml><?xml version="1.0" encoding="utf-8"?>
<ds:datastoreItem xmlns:ds="http://schemas.openxmlformats.org/officeDocument/2006/customXml" ds:itemID="{A3D9045B-E94E-4A99-9738-8F63D44DDA9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